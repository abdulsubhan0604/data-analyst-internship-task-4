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B4A"/>
                </a:solidFill>
              </a:defRPr>
            </a:pPr>
            <a:r>
              <a:t>Task 4 – Dashboard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1440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A646E"/>
                </a:solidFill>
              </a:defRPr>
            </a:pPr>
            <a:r>
              <a:t>Data Analyst Internship | Power BI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51560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2C5B96"/>
                </a:solidFill>
              </a:defRPr>
            </a:pPr>
            <a:r>
              <a:t>Supermart Sales &amp; Profit Dashboard</a:t>
            </a:r>
          </a:p>
          <a:p>
            <a:pPr algn="ctr">
              <a:defRPr sz="2000">
                <a:solidFill>
                  <a:srgbClr val="5A646E"/>
                </a:solidFill>
              </a:defRPr>
            </a:pPr>
            <a:r>
              <a:t>Interactive business dashboard for sales, profitability and growth analysis</a:t>
            </a:r>
          </a:p>
          <a:p>
            <a:pPr algn="ctr">
              <a:defRPr sz="1600">
                <a:solidFill>
                  <a:srgbClr val="162B4A"/>
                </a:solidFill>
              </a:defRPr>
            </a:pPr>
            <a:r>
              <a:t>Tool: Microsoft Power BI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B4A"/>
                </a:solidFill>
              </a:defRPr>
            </a:pPr>
            <a:r>
              <a:t>Dataset &amp; Business Objective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5A646E"/>
                </a:solidFill>
              </a:defRPr>
            </a:pPr>
            <a:r>
              <a:t>Dataset: Supermart Grocery Sales – Retail Analytics Dataset.</a:t>
            </a:r>
          </a:p>
          <a:p>
            <a:pPr>
              <a:spcAft>
                <a:spcPts val="1000"/>
              </a:spcAft>
              <a:defRPr sz="1900">
                <a:solidFill>
                  <a:srgbClr val="5A646E"/>
                </a:solidFill>
              </a:defRPr>
            </a:pPr>
            <a:r>
              <a:t>9,994 order records and 11 fields covering customers, products, geography, dates, sales, discount and profit.</a:t>
            </a:r>
          </a:p>
          <a:p>
            <a:pPr>
              <a:spcAft>
                <a:spcPts val="1000"/>
              </a:spcAft>
              <a:defRPr sz="1900">
                <a:solidFill>
                  <a:srgbClr val="5A646E"/>
                </a:solidFill>
              </a:defRPr>
            </a:pPr>
            <a:r>
              <a:t>Business objective: give stakeholders a single interactive view of revenue, profitability, growth and performance by category and region.</a:t>
            </a:r>
          </a:p>
          <a:p>
            <a:pPr>
              <a:spcAft>
                <a:spcPts val="1000"/>
              </a:spcAft>
              <a:defRPr sz="1900">
                <a:solidFill>
                  <a:srgbClr val="5A646E"/>
                </a:solidFill>
              </a:defRPr>
            </a:pPr>
            <a:r>
              <a:t>The dashboard is designed to support decisions around product mix, regional performance and discount strategy.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B4A"/>
                </a:solidFill>
              </a:defRPr>
            </a:pPr>
            <a:r>
              <a:t>Dashboard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5A646E"/>
                </a:solidFill>
              </a:defRPr>
            </a:pPr>
            <a:r>
              <a:t>Top KPI cards: Total Sales, Total Profit, Profit Margin %, and YoY Sales Growth %.</a:t>
            </a:r>
          </a:p>
          <a:p>
            <a:pPr>
              <a:spcAft>
                <a:spcPts val="1000"/>
              </a:spcAft>
              <a:defRPr sz="1900">
                <a:solidFill>
                  <a:srgbClr val="5A646E"/>
                </a:solidFill>
              </a:defRPr>
            </a:pPr>
            <a:r>
              <a:t>Slicers: Year, Region, Category and Sub Category.</a:t>
            </a:r>
          </a:p>
          <a:p>
            <a:pPr>
              <a:spcAft>
                <a:spcPts val="1000"/>
              </a:spcAft>
              <a:defRPr sz="1900">
                <a:solidFill>
                  <a:srgbClr val="5A646E"/>
                </a:solidFill>
              </a:defRPr>
            </a:pPr>
            <a:r>
              <a:t>Trend analysis: monthly Sales line chart with year filtering.</a:t>
            </a:r>
          </a:p>
          <a:p>
            <a:pPr>
              <a:spcAft>
                <a:spcPts val="1000"/>
              </a:spcAft>
              <a:defRPr sz="1900">
                <a:solidFill>
                  <a:srgbClr val="5A646E"/>
                </a:solidFill>
              </a:defRPr>
            </a:pPr>
            <a:r>
              <a:t>Category analysis: Sales and Profit comparison by category.</a:t>
            </a:r>
          </a:p>
          <a:p>
            <a:pPr>
              <a:spcAft>
                <a:spcPts val="1000"/>
              </a:spcAft>
              <a:defRPr sz="1900">
                <a:solidFill>
                  <a:srgbClr val="5A646E"/>
                </a:solidFill>
              </a:defRPr>
            </a:pPr>
            <a:r>
              <a:t>Regional analysis: Profit by region and top sub-categories by Sales.</a:t>
            </a:r>
          </a:p>
          <a:p>
            <a:pPr>
              <a:spcAft>
                <a:spcPts val="1000"/>
              </a:spcAft>
              <a:defRPr sz="1900">
                <a:solidFill>
                  <a:srgbClr val="5A646E"/>
                </a:solidFill>
              </a:defRPr>
            </a:pPr>
            <a:r>
              <a:t>Optional advanced interaction: drill-through, report-page navigation and tooltip pages.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B4A"/>
                </a:solidFill>
              </a:defRPr>
            </a:pPr>
            <a:r>
              <a:t>Key Business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5A646E"/>
                </a:solidFill>
              </a:defRPr>
            </a:pPr>
            <a:r>
              <a:t>Eggs, Meat &amp; Fish, Snacks, and Fruits &amp; Veggies are reported as leading categories in the source analysis.</a:t>
            </a:r>
          </a:p>
          <a:p>
            <a:pPr>
              <a:spcAft>
                <a:spcPts val="1000"/>
              </a:spcAft>
              <a:defRPr sz="1900">
                <a:solidFill>
                  <a:srgbClr val="5A646E"/>
                </a:solidFill>
              </a:defRPr>
            </a:pPr>
            <a:r>
              <a:t>Sales show a general upward pattern across the available years, with a notable increase in 2018.</a:t>
            </a:r>
          </a:p>
          <a:p>
            <a:pPr>
              <a:spcAft>
                <a:spcPts val="1000"/>
              </a:spcAft>
              <a:defRPr sz="1900">
                <a:solidFill>
                  <a:srgbClr val="5A646E"/>
                </a:solidFill>
              </a:defRPr>
            </a:pPr>
            <a:r>
              <a:t>The source analysis reports a minimal relationship between profit and discount.</a:t>
            </a:r>
          </a:p>
          <a:p>
            <a:pPr>
              <a:spcAft>
                <a:spcPts val="1000"/>
              </a:spcAft>
              <a:defRPr sz="1900">
                <a:solidFill>
                  <a:srgbClr val="5A646E"/>
                </a:solidFill>
              </a:defRPr>
            </a:pPr>
            <a:r>
              <a:t>The Power BI dashboard should let stakeholders validate these observations by filtering year, region and category.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B4A"/>
                </a:solidFill>
              </a:defRPr>
            </a:pPr>
            <a:r>
              <a:t>Power BI Interactivity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5A646E"/>
                </a:solidFill>
              </a:defRPr>
            </a:pPr>
            <a:r>
              <a:t>Slicers allow stakeholders to focus the dashboard on a specific year, region or product category.</a:t>
            </a:r>
          </a:p>
          <a:p>
            <a:pPr>
              <a:spcAft>
                <a:spcPts val="1000"/>
              </a:spcAft>
              <a:defRPr sz="1900">
                <a:solidFill>
                  <a:srgbClr val="5A646E"/>
                </a:solidFill>
              </a:defRPr>
            </a:pPr>
            <a:r>
              <a:t>Cross-filtering lets users select a category or region and immediately see its effect across other visuals.</a:t>
            </a:r>
          </a:p>
          <a:p>
            <a:pPr>
              <a:spcAft>
                <a:spcPts val="1000"/>
              </a:spcAft>
              <a:defRPr sz="1900">
                <a:solidFill>
                  <a:srgbClr val="5A646E"/>
                </a:solidFill>
              </a:defRPr>
            </a:pPr>
            <a:r>
              <a:t>Bookmarks and navigation buttons can separate Overview, Product Analysis and Regional Analysis.</a:t>
            </a:r>
          </a:p>
          <a:p>
            <a:pPr>
              <a:spcAft>
                <a:spcPts val="1000"/>
              </a:spcAft>
              <a:defRPr sz="1900">
                <a:solidFill>
                  <a:srgbClr val="5A646E"/>
                </a:solidFill>
              </a:defRPr>
            </a:pPr>
            <a:r>
              <a:t>Tooltips can expose additional context such as Discount, Profit and Profit Margin without overcrowding the report.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B4A"/>
                </a:solidFill>
              </a:defRPr>
            </a:pPr>
            <a:r>
              <a:t>Conclusion &amp; Submission 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5A646E"/>
                </a:solidFill>
              </a:defRPr>
            </a:pPr>
            <a:r>
              <a:t>Dashboard goal achieved: convert transactional sales data into an interactive management view.</a:t>
            </a:r>
          </a:p>
          <a:p>
            <a:pPr>
              <a:spcAft>
                <a:spcPts val="1000"/>
              </a:spcAft>
              <a:defRPr sz="1900">
                <a:solidFill>
                  <a:srgbClr val="5A646E"/>
                </a:solidFill>
              </a:defRPr>
            </a:pPr>
            <a:r>
              <a:t>Use a consistent professional theme and keep the most important KPIs above the fold.</a:t>
            </a:r>
          </a:p>
          <a:p>
            <a:pPr>
              <a:spcAft>
                <a:spcPts val="1000"/>
              </a:spcAft>
              <a:defRPr sz="1900">
                <a:solidFill>
                  <a:srgbClr val="5A646E"/>
                </a:solidFill>
              </a:defRPr>
            </a:pPr>
            <a:r>
              <a:t>Final GitHub repository should contain README.md, the Power BI .pbix file, PPT summary, screenshots and the dataset only if redistribution is permitted.</a:t>
            </a:r>
          </a:p>
          <a:p>
            <a:pPr>
              <a:spcAft>
                <a:spcPts val="1000"/>
              </a:spcAft>
              <a:defRPr sz="1900">
                <a:solidFill>
                  <a:srgbClr val="5A646E"/>
                </a:solidFill>
              </a:defRPr>
            </a:pPr>
            <a:r>
              <a:t>Before submission: test every slicer, verify KPI calculations, check date sorting, and capture clear dashboard screenshots.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